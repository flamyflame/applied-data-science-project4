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a425974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a425974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a425974b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a425974b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425974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425974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a425974b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a425974b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425974b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425974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a425974b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a425974b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425974b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a425974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425974b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425974b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425974b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a425974b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425974b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425974b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chose Gradient Boosted Trees because it is known to perform very well on structured tabular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Unlike logistic regression, it can capture nonlinear relationships and interactions between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makes it a strong candidate for our prediction task.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425974b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425974b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used a preprocessing pipeline to handle missing values and encode categorical variables.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applied an 80-20 train-test split with stratification to ensure consistent class distribution.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a5d1a7f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9a5d1a7f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trained the Gradient Boosted Trees model and performed simple hyperparameter tuning.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a5d1a7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9a5d1a7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evaluated the model using accuracy, precision, recall, F1 score, and ROC AUC.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model shows strong performance across all metrics, especially a good balance between precision and recall.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 importance analysis shows that engineered features play an important role.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Overall, this model performs well and is a strong candidate for final selection.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9a5d1a7f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9a5d1a7f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a5d1a7f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9a5d1a7f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9a5d1a7f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9a5d1a7f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Data Science Project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10">
                <a:solidFill>
                  <a:schemeClr val="dk1"/>
                </a:solidFill>
              </a:rPr>
              <a:t>Yuhan Guo</a:t>
            </a:r>
            <a:endParaRPr sz="161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10">
                <a:solidFill>
                  <a:schemeClr val="dk1"/>
                </a:solidFill>
              </a:rPr>
              <a:t>Bohong Zheng</a:t>
            </a:r>
            <a:endParaRPr sz="161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10">
                <a:solidFill>
                  <a:schemeClr val="dk1"/>
                </a:solidFill>
              </a:rPr>
              <a:t>Xiang Li</a:t>
            </a:r>
            <a:endParaRPr sz="161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10">
                <a:solidFill>
                  <a:schemeClr val="dk1"/>
                </a:solidFill>
              </a:rPr>
              <a:t>Jiahao Wang</a:t>
            </a:r>
            <a:endParaRPr sz="161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Data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Data from: </a:t>
            </a:r>
            <a:r>
              <a:rPr b="1" lang="en" sz="4800">
                <a:solidFill>
                  <a:schemeClr val="dk1"/>
                </a:solidFill>
              </a:rPr>
              <a:t>Brazilian E-Commerce Public Dataset by Olist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Data Structure: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High complexity: involves 7 related tables (orders, reviews, products, locations, etc.).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Processing scale: Over 90,000 orders.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Cleaning Tasks: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Merge tables: Merge the 7 tables into a single table based on order number, product number, customer number, and seller number.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Business logic filtering: Remove orders with logical inconsistencies (e.g., “delivery date earlier than order date”) to ensure data integrity.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About the Data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K-Nearest Neighbor</a:t>
            </a:r>
            <a:r>
              <a:rPr lang="en">
                <a:solidFill>
                  <a:schemeClr val="dk1"/>
                </a:solidFill>
              </a:rPr>
              <a:t>: Fills in missing dimensions using attributes from similar products, providing greater accuracy than simply filling in the median and maximizing information retention.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Isolation Forest</a:t>
            </a:r>
            <a:r>
              <a:rPr lang="en">
                <a:solidFill>
                  <a:schemeClr val="dk1"/>
                </a:solidFill>
              </a:rPr>
              <a:t>: Automatically identifies high-dimensional anomalous orders, such as “extremely lightweight items with extremely high shipping costs,” to prevent interference from erroneous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Standardization</a:t>
            </a:r>
            <a:r>
              <a:rPr lang="en">
                <a:solidFill>
                  <a:schemeClr val="dk1"/>
                </a:solidFill>
              </a:rPr>
              <a:t>: Applies StandardScaler to ensure all features are on the same scale.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屏幕截图 2026-04-26 2308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25" y="1097875"/>
            <a:ext cx="8312149" cy="9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屏幕截图 2026-04-26 2308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25" y="2005751"/>
            <a:ext cx="7162999" cy="10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屏幕截图 2026-04-26 2310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25" y="3059534"/>
            <a:ext cx="8571599" cy="6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Reveals the skewed distribution of review_score (few 1-2 star ratings, many 5-star ratings).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Delayed shipment?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 shipping costs?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6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993" y="1552241"/>
            <a:ext cx="5762876" cy="28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Unsupervised Learning Applications: Principal Component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PC1 captures “Size”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PC2 captures “S</a:t>
            </a:r>
            <a:r>
              <a:rPr lang="en">
                <a:solidFill>
                  <a:schemeClr val="dk1"/>
                </a:solidFill>
              </a:rPr>
              <a:t>hipping costs</a:t>
            </a:r>
            <a:r>
              <a:rPr lang="en">
                <a:solidFill>
                  <a:schemeClr val="dk1"/>
                </a:solidFill>
              </a:rPr>
              <a:t>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4" name="Google Shape;84;p17" title="Figur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263" y="1632625"/>
            <a:ext cx="4279076" cy="32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&amp; Preprocessing 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00775"/>
            <a:ext cx="369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Haversine Distance</a:t>
            </a:r>
            <a:r>
              <a:rPr lang="en"/>
              <a:t>                                    </a:t>
            </a:r>
            <a:endParaRPr/>
          </a:p>
        </p:txBody>
      </p:sp>
      <p:pic>
        <p:nvPicPr>
          <p:cNvPr id="91" name="Google Shape;91;p18" title="Figure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7075" y="1715675"/>
            <a:ext cx="4750050" cy="28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屏幕截图 2026-04-26 220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5200" y="1152475"/>
            <a:ext cx="5022651" cy="15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084000" y="2874725"/>
            <a:ext cx="4973700" cy="32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How we do that: Utilizes trigonometric functions to process latitude and longitude.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Why we do that: In Brazil, with its vast territory, actual spherical distances better reflect the challenges of logistics than straight-line distances.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          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&amp; Preprocessing 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88716" y="1017732"/>
            <a:ext cx="369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Rolling Window</a:t>
            </a:r>
            <a:r>
              <a:rPr b="1" lang="en"/>
              <a:t> </a:t>
            </a:r>
            <a:r>
              <a:rPr lang="en"/>
              <a:t>                                   </a:t>
            </a:r>
            <a:endParaRPr/>
          </a:p>
        </p:txBody>
      </p:sp>
      <p:pic>
        <p:nvPicPr>
          <p:cNvPr id="100" name="Google Shape;100;p19" title="Figure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1580926"/>
            <a:ext cx="4755365" cy="28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屏幕截图 2026-04-26 2213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86532"/>
            <a:ext cx="5663952" cy="4045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709825" y="1827600"/>
            <a:ext cx="4385100" cy="25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How we do that: Calculates the seller’s average shipping delay over the past 30 days.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Why we do that: Identifies a seller’s “immediate workload” and “credit decline,” clearly demonstrating the impact of shipping delays on user ratings.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           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 Engineering &amp; Preprocessing 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K-Means Clustering in PCA Space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Technical workflow: </a:t>
            </a:r>
            <a:r>
              <a:rPr lang="en" sz="1600">
                <a:solidFill>
                  <a:schemeClr val="dk1"/>
                </a:solidFill>
                <a:highlight>
                  <a:srgbClr val="D9D9D9"/>
                </a:highlight>
              </a:rPr>
              <a:t>Logarithmic transformation</a:t>
            </a:r>
            <a:r>
              <a:rPr lang="en" sz="1600">
                <a:solidFill>
                  <a:schemeClr val="dk1"/>
                </a:solidFill>
              </a:rPr>
              <a:t> -&gt; </a:t>
            </a:r>
            <a:r>
              <a:rPr lang="en" sz="1600">
                <a:solidFill>
                  <a:schemeClr val="dk1"/>
                </a:solidFill>
                <a:highlight>
                  <a:srgbClr val="D9D9D9"/>
                </a:highlight>
              </a:rPr>
              <a:t>PCA for dimensionality reduction and noise removal</a:t>
            </a:r>
            <a:r>
              <a:rPr lang="en" sz="1600">
                <a:solidFill>
                  <a:schemeClr val="dk1"/>
                </a:solidFill>
              </a:rPr>
              <a:t> -&gt; </a:t>
            </a:r>
            <a:r>
              <a:rPr lang="en" sz="1600">
                <a:solidFill>
                  <a:schemeClr val="dk1"/>
                </a:solidFill>
                <a:highlight>
                  <a:srgbClr val="D9D9D9"/>
                </a:highlight>
              </a:rPr>
              <a:t>K-means clustering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20" title="屏幕截图 2026-04-26 222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875" y="2320459"/>
            <a:ext cx="6292249" cy="25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 Engineering &amp; Preprocessing</a:t>
            </a:r>
            <a:endParaRPr/>
          </a:p>
        </p:txBody>
      </p:sp>
      <p:pic>
        <p:nvPicPr>
          <p:cNvPr id="115" name="Google Shape;115;p21" title="Figure_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6940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5528925" y="1152475"/>
            <a:ext cx="330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Classify all shipments into four categories: 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>
                <a:solidFill>
                  <a:srgbClr val="434343"/>
                </a:solidFill>
              </a:rPr>
              <a:t>Low-weight,low-volume, low-shipping-cost shipments</a:t>
            </a:r>
            <a:endParaRPr b="1">
              <a:solidFill>
                <a:srgbClr val="434343"/>
              </a:solidFill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ct val="100000"/>
              <a:buChar char="●"/>
            </a:pPr>
            <a:r>
              <a:rPr b="1" lang="en">
                <a:solidFill>
                  <a:srgbClr val="351C75"/>
                </a:solidFill>
              </a:rPr>
              <a:t>High</a:t>
            </a:r>
            <a:r>
              <a:rPr b="1" lang="en">
                <a:solidFill>
                  <a:srgbClr val="351C75"/>
                </a:solidFill>
              </a:rPr>
              <a:t>-weight, high-volume, high-shipping-cost shipments</a:t>
            </a:r>
            <a:endParaRPr b="1">
              <a:solidFill>
                <a:srgbClr val="351C75"/>
              </a:solidFill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Char char="●"/>
            </a:pPr>
            <a:r>
              <a:rPr b="1" lang="en">
                <a:solidFill>
                  <a:srgbClr val="38761D"/>
                </a:solidFill>
              </a:rPr>
              <a:t>Low-weight, high-volume, medium-shipping-cost shipments</a:t>
            </a:r>
            <a:endParaRPr b="1">
              <a:solidFill>
                <a:srgbClr val="38761D"/>
              </a:solidFill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b="1" lang="en">
                <a:solidFill>
                  <a:srgbClr val="FFFF00"/>
                </a:solidFill>
              </a:rPr>
              <a:t>Low-weight, low-volume, high-shipping-cost shipments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Gradient Boosted Trees Model</a:t>
            </a:r>
            <a:endParaRPr b="1"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Ensemble method based on sequential decision trees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Each tree corrects errors from previous trees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Captures nonlinear relationships and feature interactions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Why we choose this model: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Strong performance on tabular 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Handles complex patterns better than linear models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Model Pipeline</a:t>
            </a:r>
            <a:endParaRPr b="1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Data preprocessing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• Missing value imputation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• One-hot encoding for categorical variables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Train-test split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• 80/20 split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• Stratified sampling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/>
              <a:t>Model Pipeline</a:t>
            </a:r>
            <a:endParaRPr b="1"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3. Model training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• GradientBoostingClassifier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Hyperparameter tuning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• Adjust learning rate and tree depth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Model Performance</a:t>
            </a:r>
            <a:endParaRPr b="1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Strong performance across multiple metrics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High F1 score and ROC AUC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Balanced precision and recall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Key Insights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Behavioral and temporal features are important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Feature engineering significantly improves performance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8" name="Google Shape;148;p26" title="截屏2026-04-27 09.50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76" y="445025"/>
            <a:ext cx="3126925" cy="31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52"/>
          <p:cNvSpPr txBox="1"/>
          <p:nvPr/>
        </p:nvSpPr>
        <p:spPr>
          <a:xfrm>
            <a:off x="411480" y="20116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Predicting Customer Review Score from Order Data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" y="914400"/>
            <a:ext cx="3154680" cy="960120"/>
          </a:xfrm>
          <a:prstGeom prst="rect">
            <a:avLst/>
          </a:prstGeom>
          <a:solidFill>
            <a:srgbClr val="F1F5F9"/>
          </a:solidFill>
          <a:ln w="17780">
            <a:solidFill>
              <a:srgbClr val="38BDF8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The Question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7200" y="1335024"/>
            <a:ext cx="3154680" cy="1234440"/>
          </a:xfrm>
          <a:prstGeom prst="rect">
            <a:avLst/>
          </a:prstGeom>
          <a:solidFill>
            <a:srgbClr val="F8FAFC"/>
          </a:solidFill>
          <a:ln w="17780">
            <a:solidFill>
              <a:srgbClr val="38BDF8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Given everything known at dispatch time — logistics, product, payment — can we predict the star rating an order will receive?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2743200"/>
            <a:ext cx="3154680" cy="1417320"/>
          </a:xfrm>
          <a:prstGeom prst="rect">
            <a:avLst/>
          </a:prstGeom>
          <a:solidFill>
            <a:srgbClr val="F1F5F9"/>
          </a:solidFill>
          <a:ln w="17780">
            <a:solidFill>
              <a:srgbClr val="38BDF8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Dataset snapshot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Aptos"/>
              </a:rPr>
              <a:t>108,911 Brazilian e-commerce orders (Olist)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Aptos"/>
              </a:rPr>
              <a:t>80 / 20 stratified train / test split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Aptos"/>
              </a:rPr>
              <a:t>Target: review_score (1–5 ★)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40480" y="91440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Feature groups used by the DNN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3840480" y="1325880"/>
          <a:ext cx="46634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Group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Logistics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delay_days, delivery_days, distance_km, freight_ratio,</a:t>
                      </a:r>
                    </a:p>
                    <a:p>
                      <a:r>
                        <a:t>seller_recent_delay_avg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volume_cm³, weight, category (~70 types), photos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type, installments, value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Geography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seller_state, customer_state (one-hot → 145 total features)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3840480" y="40690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57.5% of orders are 5★ — severe class imbalance shapes the task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55279" y="4645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ptos"/>
              </a:rPr>
              <a:t>Slide 1 /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58"/>
          <p:cNvSpPr txBox="1"/>
          <p:nvPr/>
        </p:nvSpPr>
        <p:spPr>
          <a:xfrm>
            <a:off x="411480" y="20116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Feed-Forward MLP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2920" y="786384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Architecture + Training Summary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2920" y="1115568"/>
            <a:ext cx="7818120" cy="3456432"/>
          </a:xfrm>
          <a:prstGeom prst="rect">
            <a:avLst/>
          </a:prstGeom>
          <a:solidFill>
            <a:srgbClr val="F1F5F9"/>
          </a:solidFill>
          <a:ln w="17780">
            <a:solidFill>
              <a:srgbClr val="38BDF8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60" b="0">
                <a:solidFill>
                  <a:srgbClr val="0F172A"/>
                </a:solidFill>
                <a:latin typeface="Aptos"/>
              </a:rPr>
              <a:t>• 145 input features — logistics, product, payment, geography</a:t>
            </a:r>
            <a:br/>
            <a:r>
              <a:rPr sz="1260" b="0">
                <a:solidFill>
                  <a:srgbClr val="0F172A"/>
                </a:solidFill>
                <a:latin typeface="Aptos"/>
              </a:rPr>
              <a:t>  (one-hot encoded categoricals + pre-engineered numerics)</a:t>
            </a:r>
          </a:p>
          <a:p>
            <a:pPr algn="l">
              <a:spcAft>
                <a:spcPts val="700"/>
              </a:spcAft>
            </a:pPr>
            <a:r>
              <a:rPr sz="1260" b="0">
                <a:solidFill>
                  <a:srgbClr val="0F172A"/>
                </a:solidFill>
                <a:latin typeface="Aptos"/>
              </a:rPr>
              <a:t>• 4 hidden layers, width 90 — each block:</a:t>
            </a:r>
            <a:br/>
            <a:r>
              <a:rPr sz="1260" b="0">
                <a:solidFill>
                  <a:srgbClr val="0F172A"/>
                </a:solidFill>
                <a:latin typeface="Aptos"/>
              </a:rPr>
              <a:t>  Linear → BatchNorm → ReLU → Dropout (p = 0.32)</a:t>
            </a:r>
          </a:p>
          <a:p>
            <a:pPr algn="l">
              <a:spcAft>
                <a:spcPts val="700"/>
              </a:spcAft>
            </a:pPr>
            <a:r>
              <a:rPr sz="1260" b="0">
                <a:solidFill>
                  <a:srgbClr val="0F172A"/>
                </a:solidFill>
                <a:latin typeface="Aptos"/>
              </a:rPr>
              <a:t>• Output: single scalar, no activation — direct regression on review score (1–5)</a:t>
            </a:r>
            <a:br/>
            <a:r>
              <a:rPr sz="1260" b="0">
                <a:solidFill>
                  <a:srgbClr val="0F172A"/>
                </a:solidFill>
                <a:latin typeface="Aptos"/>
              </a:rPr>
              <a:t>  38,521 trainable parameters total</a:t>
            </a:r>
          </a:p>
          <a:p>
            <a:pPr algn="l">
              <a:spcAft>
                <a:spcPts val="700"/>
              </a:spcAft>
            </a:pPr>
            <a:r>
              <a:rPr sz="1260" b="0">
                <a:solidFill>
                  <a:srgbClr val="0F172A"/>
                </a:solidFill>
                <a:latin typeface="Aptos"/>
              </a:rPr>
              <a:t>• Trained with AdamW + cosine learning-rate decay</a:t>
            </a:r>
            <a:br/>
            <a:r>
              <a:rPr sz="1260" b="0">
                <a:solidFill>
                  <a:srgbClr val="0F172A"/>
                </a:solidFill>
                <a:latin typeface="Aptos"/>
              </a:rPr>
              <a:t>  Early stopping: patience 10 epochs, best weights restored</a:t>
            </a:r>
          </a:p>
          <a:p>
            <a:pPr algn="l">
              <a:spcAft>
                <a:spcPts val="700"/>
              </a:spcAft>
            </a:pPr>
            <a:r>
              <a:rPr sz="1220" b="0">
                <a:solidFill>
                  <a:srgbClr val="0F172A"/>
                </a:solidFill>
                <a:latin typeface="Aptos"/>
              </a:rPr>
              <a:t>• Hyperparameter search: Optuna Bayesian optimisation</a:t>
            </a:r>
            <a:br/>
            <a:r>
              <a:rPr sz="1220" b="0">
                <a:solidFill>
                  <a:srgbClr val="0F172A"/>
                </a:solidFill>
                <a:latin typeface="Aptos"/>
              </a:rPr>
              <a:t>  20 trials × 3-fold CV — objective: mean fold RMSE</a:t>
            </a:r>
            <a:br/>
            <a:r>
              <a:rPr sz="1220" b="0">
                <a:solidFill>
                  <a:srgbClr val="0F172A"/>
                </a:solidFill>
                <a:latin typeface="Aptos"/>
              </a:rPr>
              <a:t>  Best trial: lr = 9.3 × 10⁻³, dropout = 0.32, 4 layers × width 90</a:t>
            </a:r>
          </a:p>
          <a:p>
            <a:pPr algn="l">
              <a:spcAft>
                <a:spcPts val="700"/>
              </a:spcAft>
            </a:pPr>
            <a:r>
              <a:rPr sz="1220" b="0">
                <a:solidFill>
                  <a:srgbClr val="0F172A"/>
                </a:solidFill>
                <a:latin typeface="Aptos"/>
              </a:rPr>
              <a:t>• Test set (21,783 orders): RMSE = 1.22 | MAE = 0.95 | R² = 0.18</a:t>
            </a:r>
            <a:br/>
            <a:r>
              <a:rPr sz="1220" b="0">
                <a:solidFill>
                  <a:srgbClr val="0F172A"/>
                </a:solidFill>
                <a:latin typeface="Aptos"/>
              </a:rPr>
              <a:t>  Predictions monotonically ordered across all 5 star buckets</a:t>
            </a:r>
            <a:br/>
            <a:r>
              <a:rPr sz="1220" b="0">
                <a:solidFill>
                  <a:srgbClr val="0F172A"/>
                </a:solidFill>
                <a:latin typeface="Aptos"/>
              </a:rPr>
              <a:t>  (mean prediction 3.42 for 1★ → 4.21 for 5★)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955279" y="4645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ptos"/>
              </a:rPr>
              <a:t>Slide 2 /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64"/>
          <p:cNvSpPr txBox="1"/>
          <p:nvPr/>
        </p:nvSpPr>
        <p:spPr>
          <a:xfrm>
            <a:off x="411480" y="20116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Bayesian Search + K-Fold CV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1148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Training loop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02920" y="1216152"/>
            <a:ext cx="3063240" cy="310896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For each Optuna trial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2011680" y="15270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713232" y="1673352"/>
            <a:ext cx="306324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For each of K = 3 folds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011680" y="19842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713232" y="2130552"/>
            <a:ext cx="278892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Fit StandardScaler on fold train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2011680" y="24414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/>
        </p:nvSpPr>
        <p:spPr>
          <a:xfrm>
            <a:off x="713232" y="2587752"/>
            <a:ext cx="278892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Train with AdamW + cosine LR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2011680" y="28986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ounded Rectangle 174"/>
          <p:cNvSpPr/>
          <p:nvPr/>
        </p:nvSpPr>
        <p:spPr>
          <a:xfrm>
            <a:off x="713232" y="3044952"/>
            <a:ext cx="278892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Early stop (patience = 10)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2011680" y="33558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502920" y="3502152"/>
            <a:ext cx="306324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Objective = mean fold RMSE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2011680" y="38130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713232" y="3959352"/>
            <a:ext cx="2788920" cy="310896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0F172A"/>
                </a:solidFill>
                <a:latin typeface="Aptos"/>
              </a:rPr>
              <a:t>Prune if worse than median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2011680" y="4270248"/>
            <a:ext cx="0" cy="109728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502920" y="4416552"/>
            <a:ext cx="3063240" cy="310896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Report best trial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6052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Search space</a:t>
            </a:r>
          </a:p>
        </p:txBody>
      </p:sp>
      <p:graphicFrame>
        <p:nvGraphicFramePr>
          <p:cNvPr id="183" name="Table 182"/>
          <p:cNvGraphicFramePr>
            <a:graphicFrameLocks noGrp="1"/>
          </p:cNvGraphicFramePr>
          <p:nvPr/>
        </p:nvGraphicFramePr>
        <p:xfrm>
          <a:off x="4160520" y="1234440"/>
          <a:ext cx="3840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Parameter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Range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Layers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2 – 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Width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64 – 512 (log)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Dropout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0.0 – 0.5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Learning rate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1e-4 – 1e-2 (log)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Weight decay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1e-5 – 1e-2 (log)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Batch size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1024 / 2048 / 4096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Activation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ReLU / GELU / ELU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4" name="TextBox 183"/>
          <p:cNvSpPr txBox="1"/>
          <p:nvPr/>
        </p:nvSpPr>
        <p:spPr>
          <a:xfrm>
            <a:off x="4160520" y="3977639"/>
            <a:ext cx="3840480" cy="713232"/>
          </a:xfrm>
          <a:prstGeom prst="rect">
            <a:avLst/>
          </a:prstGeom>
          <a:solidFill>
            <a:srgbClr val="F1F5F9"/>
          </a:solidFill>
          <a:ln w="17780">
            <a:solidFill>
              <a:srgbClr val="38BDF8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Best config (trial 16 / 20): </a:t>
            </a:r>
            <a:r>
              <a:rPr sz="1400" b="0">
                <a:solidFill>
                  <a:srgbClr val="0F172A"/>
                </a:solidFill>
                <a:latin typeface="Aptos"/>
              </a:rPr>
              <a:t>4 layers × width 90, ReLU, dropout 0.32, lr = 9.3 × 10⁻³</a:t>
            </a:r>
          </a:p>
          <a:p>
            <a:r>
              <a:rPr sz="1300" b="0">
                <a:solidFill>
                  <a:srgbClr val="475569"/>
                </a:solidFill>
                <a:latin typeface="Aptos"/>
              </a:rPr>
              <a:t>Then retrained once on the full 80% train split.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955279" y="4645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ptos"/>
              </a:rPr>
              <a:t>Slide 3 /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Performance on Held-Out Test Set (21,783 orders)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240280" cy="914400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1.22</a:t>
            </a:r>
          </a:p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RMSE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27248" y="914400"/>
            <a:ext cx="2240280" cy="914400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0.95</a:t>
            </a:r>
          </a:p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51576" y="914400"/>
            <a:ext cx="2240280" cy="914400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0.18</a:t>
            </a:r>
          </a:p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Per-star prediction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42032"/>
          <a:ext cx="38862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True ★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Mean predicted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 marL="45720" marR="45720" marT="27432" marB="27432">
                    <a:solidFill>
                      <a:srgbClr val="0EA5E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1★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3.42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2,480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2★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3.74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731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3★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3.98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1,833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4★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4.14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4,199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5★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4.21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Aptos"/>
                        </a:rPr>
                        <a:t>12,540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09160" y="2148840"/>
            <a:ext cx="3749039" cy="2240280"/>
          </a:xfrm>
          <a:prstGeom prst="rect">
            <a:avLst/>
          </a:prstGeom>
          <a:solidFill>
            <a:srgbClr val="F1F5F9"/>
          </a:solidFill>
          <a:ln w="17780">
            <a:solidFill>
              <a:srgbClr val="38BDF8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Main takeaway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Predictions are monotonically ordered across all five buckets.</a:t>
            </a:r>
          </a:p>
          <a:p>
            <a:r>
              <a:rPr sz="1500" b="0">
                <a:solidFill>
                  <a:srgbClr val="0F172A"/>
                </a:solidFill>
                <a:latin typeface="Aptos"/>
              </a:rPr>
              <a:t>So the DNN learned the direction of the logistics signal, but low R² shows a lot of review noise still comes from factors we do not observe, like product quality or personal expectations.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645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ptos"/>
              </a:rPr>
              <a:t>Slide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